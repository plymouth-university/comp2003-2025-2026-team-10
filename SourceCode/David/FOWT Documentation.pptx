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7A093E-96B4-3588-DD53-6D7DDC2F862C}" v="1945" dt="2026-01-26T20:15:36.339"/>
    <p1510:client id="{7CA6333C-E9CD-B41F-40D4-DCFF278AB0E4}" v="47" dt="2026-01-27T15:04:42.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David Bello" userId="S::david.bello@students.plymouth.ac.uk::696ef56a-5500-4aea-8079-b4addecd39d6" providerId="AD" clId="Web-{5C7A093E-96B4-3588-DD53-6D7DDC2F862C}"/>
    <pc:docChg chg="addSld modSld">
      <pc:chgData name="(s) David Bello" userId="S::david.bello@students.plymouth.ac.uk::696ef56a-5500-4aea-8079-b4addecd39d6" providerId="AD" clId="Web-{5C7A093E-96B4-3588-DD53-6D7DDC2F862C}" dt="2026-01-26T20:15:36.183" v="1934" actId="20577"/>
      <pc:docMkLst>
        <pc:docMk/>
      </pc:docMkLst>
      <pc:sldChg chg="delSp modSp">
        <pc:chgData name="(s) David Bello" userId="S::david.bello@students.plymouth.ac.uk::696ef56a-5500-4aea-8079-b4addecd39d6" providerId="AD" clId="Web-{5C7A093E-96B4-3588-DD53-6D7DDC2F862C}" dt="2026-01-26T18:00:28.358" v="22"/>
        <pc:sldMkLst>
          <pc:docMk/>
          <pc:sldMk cId="109857222" sldId="256"/>
        </pc:sldMkLst>
        <pc:spChg chg="mod">
          <ac:chgData name="(s) David Bello" userId="S::david.bello@students.plymouth.ac.uk::696ef56a-5500-4aea-8079-b4addecd39d6" providerId="AD" clId="Web-{5C7A093E-96B4-3588-DD53-6D7DDC2F862C}" dt="2026-01-26T18:00:24.577" v="21" actId="20577"/>
          <ac:spMkLst>
            <pc:docMk/>
            <pc:sldMk cId="109857222" sldId="256"/>
            <ac:spMk id="2" creationId="{00000000-0000-0000-0000-000000000000}"/>
          </ac:spMkLst>
        </pc:spChg>
        <pc:spChg chg="del">
          <ac:chgData name="(s) David Bello" userId="S::david.bello@students.plymouth.ac.uk::696ef56a-5500-4aea-8079-b4addecd39d6" providerId="AD" clId="Web-{5C7A093E-96B4-3588-DD53-6D7DDC2F862C}" dt="2026-01-26T18:00:28.358" v="22"/>
          <ac:spMkLst>
            <pc:docMk/>
            <pc:sldMk cId="109857222" sldId="256"/>
            <ac:spMk id="3" creationId="{00000000-0000-0000-0000-000000000000}"/>
          </ac:spMkLst>
        </pc:spChg>
      </pc:sldChg>
      <pc:sldChg chg="modSp new">
        <pc:chgData name="(s) David Bello" userId="S::david.bello@students.plymouth.ac.uk::696ef56a-5500-4aea-8079-b4addecd39d6" providerId="AD" clId="Web-{5C7A093E-96B4-3588-DD53-6D7DDC2F862C}" dt="2026-01-26T18:10:37.233" v="405" actId="20577"/>
        <pc:sldMkLst>
          <pc:docMk/>
          <pc:sldMk cId="3455040043" sldId="257"/>
        </pc:sldMkLst>
        <pc:spChg chg="mod">
          <ac:chgData name="(s) David Bello" userId="S::david.bello@students.plymouth.ac.uk::696ef56a-5500-4aea-8079-b4addecd39d6" providerId="AD" clId="Web-{5C7A093E-96B4-3588-DD53-6D7DDC2F862C}" dt="2026-01-26T18:02:06.345" v="76" actId="20577"/>
          <ac:spMkLst>
            <pc:docMk/>
            <pc:sldMk cId="3455040043" sldId="257"/>
            <ac:spMk id="2" creationId="{236AA5D1-2212-8FEF-CAE8-5FE4216590B7}"/>
          </ac:spMkLst>
        </pc:spChg>
        <pc:spChg chg="mod">
          <ac:chgData name="(s) David Bello" userId="S::david.bello@students.plymouth.ac.uk::696ef56a-5500-4aea-8079-b4addecd39d6" providerId="AD" clId="Web-{5C7A093E-96B4-3588-DD53-6D7DDC2F862C}" dt="2026-01-26T18:10:37.233" v="405" actId="20577"/>
          <ac:spMkLst>
            <pc:docMk/>
            <pc:sldMk cId="3455040043" sldId="257"/>
            <ac:spMk id="3" creationId="{B3C74171-F87D-6550-F5B7-AC1CB2C57941}"/>
          </ac:spMkLst>
        </pc:spChg>
      </pc:sldChg>
      <pc:sldChg chg="addSp modSp new">
        <pc:chgData name="(s) David Bello" userId="S::david.bello@students.plymouth.ac.uk::696ef56a-5500-4aea-8079-b4addecd39d6" providerId="AD" clId="Web-{5C7A093E-96B4-3588-DD53-6D7DDC2F862C}" dt="2026-01-26T18:31:31.474" v="742" actId="20577"/>
        <pc:sldMkLst>
          <pc:docMk/>
          <pc:sldMk cId="849799695" sldId="258"/>
        </pc:sldMkLst>
        <pc:spChg chg="mod">
          <ac:chgData name="(s) David Bello" userId="S::david.bello@students.plymouth.ac.uk::696ef56a-5500-4aea-8079-b4addecd39d6" providerId="AD" clId="Web-{5C7A093E-96B4-3588-DD53-6D7DDC2F862C}" dt="2026-01-26T18:12:14.161" v="443" actId="20577"/>
          <ac:spMkLst>
            <pc:docMk/>
            <pc:sldMk cId="849799695" sldId="258"/>
            <ac:spMk id="2" creationId="{5BDCB30A-C97F-5485-2C21-AE747C8ACFF1}"/>
          </ac:spMkLst>
        </pc:spChg>
        <pc:spChg chg="mod">
          <ac:chgData name="(s) David Bello" userId="S::david.bello@students.plymouth.ac.uk::696ef56a-5500-4aea-8079-b4addecd39d6" providerId="AD" clId="Web-{5C7A093E-96B4-3588-DD53-6D7DDC2F862C}" dt="2026-01-26T18:31:31.474" v="742" actId="20577"/>
          <ac:spMkLst>
            <pc:docMk/>
            <pc:sldMk cId="849799695" sldId="258"/>
            <ac:spMk id="3" creationId="{72ED22D8-D98D-083D-35CA-119B58DEF7CD}"/>
          </ac:spMkLst>
        </pc:spChg>
        <pc:picChg chg="add mod">
          <ac:chgData name="(s) David Bello" userId="S::david.bello@students.plymouth.ac.uk::696ef56a-5500-4aea-8079-b4addecd39d6" providerId="AD" clId="Web-{5C7A093E-96B4-3588-DD53-6D7DDC2F862C}" dt="2026-01-26T18:24:18.654" v="654" actId="1076"/>
          <ac:picMkLst>
            <pc:docMk/>
            <pc:sldMk cId="849799695" sldId="258"/>
            <ac:picMk id="4" creationId="{F03A8D99-A91D-5A19-C41B-D2DF04FDFD87}"/>
          </ac:picMkLst>
        </pc:picChg>
        <pc:picChg chg="add mod">
          <ac:chgData name="(s) David Bello" userId="S::david.bello@students.plymouth.ac.uk::696ef56a-5500-4aea-8079-b4addecd39d6" providerId="AD" clId="Web-{5C7A093E-96B4-3588-DD53-6D7DDC2F862C}" dt="2026-01-26T18:29:07.375" v="703" actId="1076"/>
          <ac:picMkLst>
            <pc:docMk/>
            <pc:sldMk cId="849799695" sldId="258"/>
            <ac:picMk id="5" creationId="{8A1B26AF-C0EF-2079-EC04-747DB71BEFFF}"/>
          </ac:picMkLst>
        </pc:picChg>
      </pc:sldChg>
      <pc:sldChg chg="modSp new">
        <pc:chgData name="(s) David Bello" userId="S::david.bello@students.plymouth.ac.uk::696ef56a-5500-4aea-8079-b4addecd39d6" providerId="AD" clId="Web-{5C7A093E-96B4-3588-DD53-6D7DDC2F862C}" dt="2026-01-26T18:49:52.866" v="1286" actId="20577"/>
        <pc:sldMkLst>
          <pc:docMk/>
          <pc:sldMk cId="4119923414" sldId="259"/>
        </pc:sldMkLst>
        <pc:spChg chg="mod">
          <ac:chgData name="(s) David Bello" userId="S::david.bello@students.plymouth.ac.uk::696ef56a-5500-4aea-8079-b4addecd39d6" providerId="AD" clId="Web-{5C7A093E-96B4-3588-DD53-6D7DDC2F862C}" dt="2026-01-26T18:32:25.366" v="747" actId="20577"/>
          <ac:spMkLst>
            <pc:docMk/>
            <pc:sldMk cId="4119923414" sldId="259"/>
            <ac:spMk id="2" creationId="{F63DA717-2FDD-F8DC-8DA8-2BA2796D8BCC}"/>
          </ac:spMkLst>
        </pc:spChg>
        <pc:spChg chg="mod">
          <ac:chgData name="(s) David Bello" userId="S::david.bello@students.plymouth.ac.uk::696ef56a-5500-4aea-8079-b4addecd39d6" providerId="AD" clId="Web-{5C7A093E-96B4-3588-DD53-6D7DDC2F862C}" dt="2026-01-26T18:49:52.866" v="1286" actId="20577"/>
          <ac:spMkLst>
            <pc:docMk/>
            <pc:sldMk cId="4119923414" sldId="259"/>
            <ac:spMk id="3" creationId="{602CEB33-E955-56D2-2A4F-1EFF028E62A1}"/>
          </ac:spMkLst>
        </pc:spChg>
      </pc:sldChg>
      <pc:sldChg chg="modSp new">
        <pc:chgData name="(s) David Bello" userId="S::david.bello@students.plymouth.ac.uk::696ef56a-5500-4aea-8079-b4addecd39d6" providerId="AD" clId="Web-{5C7A093E-96B4-3588-DD53-6D7DDC2F862C}" dt="2026-01-26T19:06:13.931" v="1692" actId="20577"/>
        <pc:sldMkLst>
          <pc:docMk/>
          <pc:sldMk cId="400245" sldId="260"/>
        </pc:sldMkLst>
        <pc:spChg chg="mod">
          <ac:chgData name="(s) David Bello" userId="S::david.bello@students.plymouth.ac.uk::696ef56a-5500-4aea-8079-b4addecd39d6" providerId="AD" clId="Web-{5C7A093E-96B4-3588-DD53-6D7DDC2F862C}" dt="2026-01-26T18:52:15.616" v="1309" actId="20577"/>
          <ac:spMkLst>
            <pc:docMk/>
            <pc:sldMk cId="400245" sldId="260"/>
            <ac:spMk id="2" creationId="{EC9D4D7C-C124-4A95-C19D-F68A1076A5D7}"/>
          </ac:spMkLst>
        </pc:spChg>
        <pc:spChg chg="mod">
          <ac:chgData name="(s) David Bello" userId="S::david.bello@students.plymouth.ac.uk::696ef56a-5500-4aea-8079-b4addecd39d6" providerId="AD" clId="Web-{5C7A093E-96B4-3588-DD53-6D7DDC2F862C}" dt="2026-01-26T19:06:13.931" v="1692" actId="20577"/>
          <ac:spMkLst>
            <pc:docMk/>
            <pc:sldMk cId="400245" sldId="260"/>
            <ac:spMk id="3" creationId="{AA51CDD8-30BA-901F-15D6-EEFFD5F79AD7}"/>
          </ac:spMkLst>
        </pc:spChg>
      </pc:sldChg>
      <pc:sldChg chg="modSp new">
        <pc:chgData name="(s) David Bello" userId="S::david.bello@students.plymouth.ac.uk::696ef56a-5500-4aea-8079-b4addecd39d6" providerId="AD" clId="Web-{5C7A093E-96B4-3588-DD53-6D7DDC2F862C}" dt="2026-01-26T20:06:24.917" v="1860" actId="20577"/>
        <pc:sldMkLst>
          <pc:docMk/>
          <pc:sldMk cId="4064976686" sldId="261"/>
        </pc:sldMkLst>
        <pc:spChg chg="mod">
          <ac:chgData name="(s) David Bello" userId="S::david.bello@students.plymouth.ac.uk::696ef56a-5500-4aea-8079-b4addecd39d6" providerId="AD" clId="Web-{5C7A093E-96B4-3588-DD53-6D7DDC2F862C}" dt="2026-01-26T19:35:55.701" v="1705" actId="20577"/>
          <ac:spMkLst>
            <pc:docMk/>
            <pc:sldMk cId="4064976686" sldId="261"/>
            <ac:spMk id="2" creationId="{16E6BEBA-8D72-C9B8-4DBA-796E06E2A382}"/>
          </ac:spMkLst>
        </pc:spChg>
        <pc:spChg chg="mod">
          <ac:chgData name="(s) David Bello" userId="S::david.bello@students.plymouth.ac.uk::696ef56a-5500-4aea-8079-b4addecd39d6" providerId="AD" clId="Web-{5C7A093E-96B4-3588-DD53-6D7DDC2F862C}" dt="2026-01-26T20:06:24.917" v="1860" actId="20577"/>
          <ac:spMkLst>
            <pc:docMk/>
            <pc:sldMk cId="4064976686" sldId="261"/>
            <ac:spMk id="3" creationId="{4DFD3ACE-6C42-D200-7CD6-B5007AE62673}"/>
          </ac:spMkLst>
        </pc:spChg>
      </pc:sldChg>
      <pc:sldChg chg="modSp new">
        <pc:chgData name="(s) David Bello" userId="S::david.bello@students.plymouth.ac.uk::696ef56a-5500-4aea-8079-b4addecd39d6" providerId="AD" clId="Web-{5C7A093E-96B4-3588-DD53-6D7DDC2F862C}" dt="2026-01-26T20:15:36.183" v="1934" actId="20577"/>
        <pc:sldMkLst>
          <pc:docMk/>
          <pc:sldMk cId="2730073685" sldId="262"/>
        </pc:sldMkLst>
        <pc:spChg chg="mod">
          <ac:chgData name="(s) David Bello" userId="S::david.bello@students.plymouth.ac.uk::696ef56a-5500-4aea-8079-b4addecd39d6" providerId="AD" clId="Web-{5C7A093E-96B4-3588-DD53-6D7DDC2F862C}" dt="2026-01-26T20:15:36.183" v="1934" actId="20577"/>
          <ac:spMkLst>
            <pc:docMk/>
            <pc:sldMk cId="2730073685" sldId="262"/>
            <ac:spMk id="2" creationId="{CB1B52D0-4A0B-57B7-1E53-7B3ECB9B20A6}"/>
          </ac:spMkLst>
        </pc:spChg>
        <pc:spChg chg="mod">
          <ac:chgData name="(s) David Bello" userId="S::david.bello@students.plymouth.ac.uk::696ef56a-5500-4aea-8079-b4addecd39d6" providerId="AD" clId="Web-{5C7A093E-96B4-3588-DD53-6D7DDC2F862C}" dt="2026-01-26T20:15:17.808" v="1916" actId="20577"/>
          <ac:spMkLst>
            <pc:docMk/>
            <pc:sldMk cId="2730073685" sldId="262"/>
            <ac:spMk id="3" creationId="{C5CCA792-56B7-63AF-21E1-4C284E72B478}"/>
          </ac:spMkLst>
        </pc:spChg>
      </pc:sldChg>
    </pc:docChg>
  </pc:docChgLst>
  <pc:docChgLst>
    <pc:chgData name="(s) David Bello" userId="S::david.bello@students.plymouth.ac.uk::696ef56a-5500-4aea-8079-b4addecd39d6" providerId="AD" clId="Web-{7CA6333C-E9CD-B41F-40D4-DCFF278AB0E4}"/>
    <pc:docChg chg="modSld">
      <pc:chgData name="(s) David Bello" userId="S::david.bello@students.plymouth.ac.uk::696ef56a-5500-4aea-8079-b4addecd39d6" providerId="AD" clId="Web-{7CA6333C-E9CD-B41F-40D4-DCFF278AB0E4}" dt="2026-01-27T15:04:42.141" v="49" actId="20577"/>
      <pc:docMkLst>
        <pc:docMk/>
      </pc:docMkLst>
      <pc:sldChg chg="modSp">
        <pc:chgData name="(s) David Bello" userId="S::david.bello@students.plymouth.ac.uk::696ef56a-5500-4aea-8079-b4addecd39d6" providerId="AD" clId="Web-{7CA6333C-E9CD-B41F-40D4-DCFF278AB0E4}" dt="2026-01-27T15:04:42.141" v="49" actId="20577"/>
        <pc:sldMkLst>
          <pc:docMk/>
          <pc:sldMk cId="2730073685" sldId="262"/>
        </pc:sldMkLst>
        <pc:spChg chg="mod">
          <ac:chgData name="(s) David Bello" userId="S::david.bello@students.plymouth.ac.uk::696ef56a-5500-4aea-8079-b4addecd39d6" providerId="AD" clId="Web-{7CA6333C-E9CD-B41F-40D4-DCFF278AB0E4}" dt="2026-01-27T15:04:42.141" v="49" actId="20577"/>
          <ac:spMkLst>
            <pc:docMk/>
            <pc:sldMk cId="2730073685" sldId="262"/>
            <ac:spMk id="3" creationId="{C5CCA792-56B7-63AF-21E1-4C284E72B47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27/01/2026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27/01/2026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27/01/2026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27/01/2026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27/01/2026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27/01/2026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27/01/2026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27/01/2026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27/01/2026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27/01/2026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27/01/2026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27/01/2026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t>FOWT Turbine Documentation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A5D1-2212-8FEF-CAE8-5FE4216590B7}"/>
              </a:ext>
            </a:extLst>
          </p:cNvPr>
          <p:cNvSpPr>
            <a:spLocks noGrp="1"/>
          </p:cNvSpPr>
          <p:nvPr>
            <p:ph type="title"/>
          </p:nvPr>
        </p:nvSpPr>
        <p:spPr/>
        <p:txBody>
          <a:bodyPr>
            <a:normAutofit/>
          </a:bodyPr>
          <a:lstStyle/>
          <a:p>
            <a:r>
              <a:rPr lang="en-GB" sz="3600"/>
              <a:t>Getting the turbine to spin based on the 10 snapshots</a:t>
            </a:r>
            <a:endParaRPr lang="en-US" sz="3600"/>
          </a:p>
        </p:txBody>
      </p:sp>
      <p:sp>
        <p:nvSpPr>
          <p:cNvPr id="3" name="Content Placeholder 2">
            <a:extLst>
              <a:ext uri="{FF2B5EF4-FFF2-40B4-BE49-F238E27FC236}">
                <a16:creationId xmlns:a16="http://schemas.microsoft.com/office/drawing/2014/main" id="{B3C74171-F87D-6550-F5B7-AC1CB2C57941}"/>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GB"/>
              <a:t>First, we need the number, the whole turbine mesh is not required for this. All we need to know is the </a:t>
            </a:r>
            <a:r>
              <a:rPr lang="en-GB" b="1"/>
              <a:t>Angular Velocity</a:t>
            </a:r>
            <a:r>
              <a:rPr lang="en-GB"/>
              <a:t> of the blades. Using Python or PyVista in specific we can poke the data files at the </a:t>
            </a:r>
            <a:r>
              <a:rPr lang="en-GB" err="1"/>
              <a:t>center</a:t>
            </a:r>
            <a:r>
              <a:rPr lang="en-GB"/>
              <a:t> coordinate of the turbine to get a single value. </a:t>
            </a:r>
          </a:p>
          <a:p>
            <a:pPr marL="0" indent="0">
              <a:buNone/>
            </a:pPr>
            <a:endParaRPr lang="en-GB"/>
          </a:p>
          <a:p>
            <a:pPr marL="0" indent="0">
              <a:buNone/>
            </a:pPr>
            <a:r>
              <a:rPr lang="en-GB"/>
              <a:t>We will then save those 10 number files (1 per snapshot) into a tiny text file as a sort of speed schedule for a Unity Script later.</a:t>
            </a:r>
          </a:p>
          <a:p>
            <a:pPr marL="0" indent="0">
              <a:buNone/>
            </a:pPr>
            <a:endParaRPr lang="en-GB"/>
          </a:p>
          <a:p>
            <a:pPr marL="0" indent="0">
              <a:buNone/>
            </a:pPr>
            <a:r>
              <a:rPr lang="en-GB"/>
              <a:t>Since we only have 10 datapoints and just telling Unity to jump from one point to another would look glitchy we then use linear interpolation to smoothly slide the speed between the numbers over time.</a:t>
            </a:r>
          </a:p>
          <a:p>
            <a:pPr marL="0" indent="0">
              <a:buNone/>
            </a:pPr>
            <a:endParaRPr lang="en-GB"/>
          </a:p>
          <a:p>
            <a:pPr marL="0" indent="0">
              <a:buNone/>
            </a:pPr>
            <a:endParaRPr lang="en-GB"/>
          </a:p>
        </p:txBody>
      </p:sp>
    </p:spTree>
    <p:extLst>
      <p:ext uri="{BB962C8B-B14F-4D97-AF65-F5344CB8AC3E}">
        <p14:creationId xmlns:p14="http://schemas.microsoft.com/office/powerpoint/2010/main" val="3455040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B30A-C97F-5485-2C21-AE747C8ACFF1}"/>
              </a:ext>
            </a:extLst>
          </p:cNvPr>
          <p:cNvSpPr>
            <a:spLocks noGrp="1"/>
          </p:cNvSpPr>
          <p:nvPr>
            <p:ph type="title"/>
          </p:nvPr>
        </p:nvSpPr>
        <p:spPr/>
        <p:txBody>
          <a:bodyPr/>
          <a:lstStyle/>
          <a:p>
            <a:r>
              <a:rPr lang="en-GB"/>
              <a:t>Finding the Coordinate at the blade </a:t>
            </a:r>
            <a:r>
              <a:rPr lang="en-GB" err="1"/>
              <a:t>center</a:t>
            </a:r>
          </a:p>
        </p:txBody>
      </p:sp>
      <p:sp>
        <p:nvSpPr>
          <p:cNvPr id="3" name="Content Placeholder 2">
            <a:extLst>
              <a:ext uri="{FF2B5EF4-FFF2-40B4-BE49-F238E27FC236}">
                <a16:creationId xmlns:a16="http://schemas.microsoft.com/office/drawing/2014/main" id="{72ED22D8-D98D-083D-35CA-119B58DEF7CD}"/>
              </a:ext>
            </a:extLst>
          </p:cNvPr>
          <p:cNvSpPr>
            <a:spLocks noGrp="1"/>
          </p:cNvSpPr>
          <p:nvPr>
            <p:ph idx="1"/>
          </p:nvPr>
        </p:nvSpPr>
        <p:spPr>
          <a:xfrm>
            <a:off x="838200" y="1825625"/>
            <a:ext cx="6815890" cy="4672180"/>
          </a:xfrm>
        </p:spPr>
        <p:txBody>
          <a:bodyPr vert="horz" lIns="91440" tIns="45720" rIns="91440" bIns="45720" rtlCol="0" anchor="t">
            <a:normAutofit/>
          </a:bodyPr>
          <a:lstStyle/>
          <a:p>
            <a:pPr marL="0" indent="0">
              <a:buNone/>
            </a:pPr>
            <a:r>
              <a:rPr lang="en-GB"/>
              <a:t>First, we open a single snapshot and isolate the Nacelle so instead of loading everything we just go into sauna properties panel and select only </a:t>
            </a:r>
            <a:r>
              <a:rPr lang="en-GB" err="1"/>
              <a:t>FOWT_nacelle</a:t>
            </a:r>
            <a:r>
              <a:rPr lang="en-GB"/>
              <a:t>. Next look at the "Data Statistics" panel and here we will see the ranges (bounds) for X, Y and Z. We get the midpoint of the bounds here:</a:t>
            </a:r>
          </a:p>
        </p:txBody>
      </p:sp>
      <p:pic>
        <p:nvPicPr>
          <p:cNvPr id="4" name="Picture 3" descr="A screenshot of a data array&#10;&#10;AI-generated content may be incorrect.">
            <a:extLst>
              <a:ext uri="{FF2B5EF4-FFF2-40B4-BE49-F238E27FC236}">
                <a16:creationId xmlns:a16="http://schemas.microsoft.com/office/drawing/2014/main" id="{F03A8D99-A91D-5A19-C41B-D2DF04FDFD87}"/>
              </a:ext>
            </a:extLst>
          </p:cNvPr>
          <p:cNvPicPr>
            <a:picLocks noChangeAspect="1"/>
          </p:cNvPicPr>
          <p:nvPr/>
        </p:nvPicPr>
        <p:blipFill>
          <a:blip r:embed="rId2"/>
          <a:stretch>
            <a:fillRect/>
          </a:stretch>
        </p:blipFill>
        <p:spPr>
          <a:xfrm>
            <a:off x="7647322" y="1822534"/>
            <a:ext cx="3133725" cy="4676775"/>
          </a:xfrm>
          <a:prstGeom prst="rect">
            <a:avLst/>
          </a:prstGeom>
        </p:spPr>
      </p:pic>
      <p:pic>
        <p:nvPicPr>
          <p:cNvPr id="5" name="Picture 4" descr="A math problem with numbers&#10;&#10;AI-generated content may be incorrect.">
            <a:extLst>
              <a:ext uri="{FF2B5EF4-FFF2-40B4-BE49-F238E27FC236}">
                <a16:creationId xmlns:a16="http://schemas.microsoft.com/office/drawing/2014/main" id="{8A1B26AF-C0EF-2079-EC04-747DB71BEFFF}"/>
              </a:ext>
            </a:extLst>
          </p:cNvPr>
          <p:cNvPicPr>
            <a:picLocks noChangeAspect="1"/>
          </p:cNvPicPr>
          <p:nvPr/>
        </p:nvPicPr>
        <p:blipFill>
          <a:blip r:embed="rId3"/>
          <a:stretch>
            <a:fillRect/>
          </a:stretch>
        </p:blipFill>
        <p:spPr>
          <a:xfrm>
            <a:off x="1307432" y="4706103"/>
            <a:ext cx="5867400" cy="1476375"/>
          </a:xfrm>
          <a:prstGeom prst="rect">
            <a:avLst/>
          </a:prstGeom>
        </p:spPr>
      </p:pic>
    </p:spTree>
    <p:extLst>
      <p:ext uri="{BB962C8B-B14F-4D97-AF65-F5344CB8AC3E}">
        <p14:creationId xmlns:p14="http://schemas.microsoft.com/office/powerpoint/2010/main" val="849799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DA717-2FDD-F8DC-8DA8-2BA2796D8BCC}"/>
              </a:ext>
            </a:extLst>
          </p:cNvPr>
          <p:cNvSpPr>
            <a:spLocks noGrp="1"/>
          </p:cNvSpPr>
          <p:nvPr>
            <p:ph type="title"/>
          </p:nvPr>
        </p:nvSpPr>
        <p:spPr/>
        <p:txBody>
          <a:bodyPr/>
          <a:lstStyle/>
          <a:p>
            <a:r>
              <a:rPr lang="en-GB"/>
              <a:t>The Probe</a:t>
            </a:r>
          </a:p>
        </p:txBody>
      </p:sp>
      <p:sp>
        <p:nvSpPr>
          <p:cNvPr id="3" name="Content Placeholder 2">
            <a:extLst>
              <a:ext uri="{FF2B5EF4-FFF2-40B4-BE49-F238E27FC236}">
                <a16:creationId xmlns:a16="http://schemas.microsoft.com/office/drawing/2014/main" id="{602CEB33-E955-56D2-2A4F-1EFF028E62A1}"/>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GB"/>
              <a:t>Now we have the (x, y, z) coordinate being (7.824, 0.000, 2.135) 3 D.P we need to tell </a:t>
            </a:r>
            <a:r>
              <a:rPr lang="en-GB" err="1"/>
              <a:t>ParaView</a:t>
            </a:r>
            <a:r>
              <a:rPr lang="en-GB"/>
              <a:t> to look at the wind at that specific point. First go back to the properties panel and apply only "</a:t>
            </a:r>
            <a:r>
              <a:rPr lang="en-GB" err="1"/>
              <a:t>internalMesh</a:t>
            </a:r>
            <a:r>
              <a:rPr lang="en-GB"/>
              <a:t>" and "U". Then go into the filters section, alphabetical, and look for the Probe Location option. In the properties for the Probe simply enter the </a:t>
            </a:r>
            <a:r>
              <a:rPr lang="en-GB" err="1"/>
              <a:t>center</a:t>
            </a:r>
            <a:r>
              <a:rPr lang="en-GB"/>
              <a:t> coordinates from before aka (7.824, 0.000, 2.135) and click apply. It will then show a value of U in 3 components of U aka </a:t>
            </a:r>
            <a:r>
              <a:rPr lang="en-GB" err="1"/>
              <a:t>Ux</a:t>
            </a:r>
            <a:r>
              <a:rPr lang="en-GB"/>
              <a:t>, Uy, Uz. This is the specific air data hitting the turbine. NOTE since the nacelle is </a:t>
            </a:r>
            <a:r>
              <a:rPr lang="en-GB" err="1"/>
              <a:t>modeled</a:t>
            </a:r>
            <a:r>
              <a:rPr lang="en-GB"/>
              <a:t> as a physical void in the </a:t>
            </a:r>
            <a:r>
              <a:rPr lang="en-GB" err="1"/>
              <a:t>internalmesh</a:t>
            </a:r>
            <a:r>
              <a:rPr lang="en-GB"/>
              <a:t> we move the probe X value from 7.824 to 7.5, this puts the measurement a few centimeters in from of the rotor so its catching the air as it hits the blades otherwise the U values we would get would be 0. The U values at time 30 are </a:t>
            </a:r>
            <a:r>
              <a:rPr lang="en-GB" b="1"/>
              <a:t>–0.925, 1.322, 0.137.</a:t>
            </a:r>
          </a:p>
        </p:txBody>
      </p:sp>
    </p:spTree>
    <p:extLst>
      <p:ext uri="{BB962C8B-B14F-4D97-AF65-F5344CB8AC3E}">
        <p14:creationId xmlns:p14="http://schemas.microsoft.com/office/powerpoint/2010/main" val="4119923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4D7C-C124-4A95-C19D-F68A1076A5D7}"/>
              </a:ext>
            </a:extLst>
          </p:cNvPr>
          <p:cNvSpPr>
            <a:spLocks noGrp="1"/>
          </p:cNvSpPr>
          <p:nvPr>
            <p:ph type="title"/>
          </p:nvPr>
        </p:nvSpPr>
        <p:spPr/>
        <p:txBody>
          <a:bodyPr/>
          <a:lstStyle/>
          <a:p>
            <a:r>
              <a:rPr lang="en-GB"/>
              <a:t>Making the Extraction Script</a:t>
            </a:r>
          </a:p>
        </p:txBody>
      </p:sp>
      <p:sp>
        <p:nvSpPr>
          <p:cNvPr id="3" name="Content Placeholder 2">
            <a:extLst>
              <a:ext uri="{FF2B5EF4-FFF2-40B4-BE49-F238E27FC236}">
                <a16:creationId xmlns:a16="http://schemas.microsoft.com/office/drawing/2014/main" id="{AA51CDD8-30BA-901F-15D6-EEFFD5F79AD7}"/>
              </a:ext>
            </a:extLst>
          </p:cNvPr>
          <p:cNvSpPr>
            <a:spLocks noGrp="1"/>
          </p:cNvSpPr>
          <p:nvPr>
            <p:ph idx="1"/>
          </p:nvPr>
        </p:nvSpPr>
        <p:spPr/>
        <p:txBody>
          <a:bodyPr vert="horz" lIns="91440" tIns="45720" rIns="91440" bIns="45720" rtlCol="0" anchor="t">
            <a:normAutofit lnSpcReduction="10000"/>
          </a:bodyPr>
          <a:lstStyle/>
          <a:p>
            <a:pPr marL="0" indent="0">
              <a:buNone/>
            </a:pPr>
            <a:r>
              <a:rPr lang="en-GB"/>
              <a:t>Since doing this for each snapshot present and maybe in the future would be tedious and time consuming, we have a script that will automatically look at the 10 snapshots and extract the winds speed as well as the platform tilt from the metal in one go. This script is named "Full Extraction Script" in the files.</a:t>
            </a:r>
          </a:p>
          <a:p>
            <a:pPr marL="0" indent="0">
              <a:buNone/>
            </a:pPr>
            <a:r>
              <a:rPr lang="en-GB"/>
              <a:t>One final check is the direction of the wind, since in the data we can see that the </a:t>
            </a:r>
            <a:r>
              <a:rPr lang="en-GB" err="1"/>
              <a:t>Ux</a:t>
            </a:r>
            <a:r>
              <a:rPr lang="en-GB"/>
              <a:t> value is negative we know the wind is blowing backward, in Unity we will have to make sure the turbine is rotated to face this wind. In simpler terms in Unity we must make sure it is blowing from the positive x direction to the negative x direction. (speed value for blades must be set to negative).</a:t>
            </a:r>
          </a:p>
        </p:txBody>
      </p:sp>
    </p:spTree>
    <p:extLst>
      <p:ext uri="{BB962C8B-B14F-4D97-AF65-F5344CB8AC3E}">
        <p14:creationId xmlns:p14="http://schemas.microsoft.com/office/powerpoint/2010/main" val="400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BEBA-8D72-C9B8-4DBA-796E06E2A382}"/>
              </a:ext>
            </a:extLst>
          </p:cNvPr>
          <p:cNvSpPr>
            <a:spLocks noGrp="1"/>
          </p:cNvSpPr>
          <p:nvPr>
            <p:ph type="title"/>
          </p:nvPr>
        </p:nvSpPr>
        <p:spPr/>
        <p:txBody>
          <a:bodyPr/>
          <a:lstStyle/>
          <a:p>
            <a:r>
              <a:rPr lang="en-GB" dirty="0"/>
              <a:t>The </a:t>
            </a:r>
            <a:r>
              <a:rPr lang="en-GB" dirty="0" err="1"/>
              <a:t>FOWT_platform</a:t>
            </a:r>
            <a:r>
              <a:rPr lang="en-GB" dirty="0"/>
              <a:t> aka "the boat"</a:t>
            </a:r>
          </a:p>
        </p:txBody>
      </p:sp>
      <p:sp>
        <p:nvSpPr>
          <p:cNvPr id="3" name="Content Placeholder 2">
            <a:extLst>
              <a:ext uri="{FF2B5EF4-FFF2-40B4-BE49-F238E27FC236}">
                <a16:creationId xmlns:a16="http://schemas.microsoft.com/office/drawing/2014/main" id="{4DFD3ACE-6C42-D200-7CD6-B5007AE62673}"/>
              </a:ext>
            </a:extLst>
          </p:cNvPr>
          <p:cNvSpPr>
            <a:spLocks noGrp="1"/>
          </p:cNvSpPr>
          <p:nvPr>
            <p:ph idx="1"/>
          </p:nvPr>
        </p:nvSpPr>
        <p:spPr/>
        <p:txBody>
          <a:bodyPr vert="horz" lIns="91440" tIns="45720" rIns="91440" bIns="45720" rtlCol="0" anchor="t">
            <a:normAutofit/>
          </a:bodyPr>
          <a:lstStyle/>
          <a:p>
            <a:pPr marL="0" indent="0">
              <a:buNone/>
            </a:pPr>
            <a:r>
              <a:rPr lang="en-GB" dirty="0"/>
              <a:t>This is the part that sits in the water and acts as a sort of ship, in the data it is what moves when you look at </a:t>
            </a:r>
            <a:r>
              <a:rPr lang="en-GB" dirty="0" err="1"/>
              <a:t>pointdisplacement</a:t>
            </a:r>
            <a:r>
              <a:rPr lang="en-GB" dirty="0"/>
              <a:t>. In Unity it would be a parent object, when it tilts it will also tilt the whole turbine.</a:t>
            </a:r>
          </a:p>
          <a:p>
            <a:pPr marL="0" indent="0">
              <a:buNone/>
            </a:pPr>
            <a:endParaRPr lang="en-GB" dirty="0"/>
          </a:p>
          <a:p>
            <a:pPr marL="0" indent="0">
              <a:buNone/>
            </a:pPr>
            <a:r>
              <a:rPr lang="en-GB" dirty="0"/>
              <a:t>In Unity to simulate this turbine properly it won't be static, in the animation it will show the platform bobbing up and down (using heave data) and tilting back as the wind pushes it (using pitch data).</a:t>
            </a:r>
          </a:p>
        </p:txBody>
      </p:sp>
    </p:spTree>
    <p:extLst>
      <p:ext uri="{BB962C8B-B14F-4D97-AF65-F5344CB8AC3E}">
        <p14:creationId xmlns:p14="http://schemas.microsoft.com/office/powerpoint/2010/main" val="4064976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B52D0-4A0B-57B7-1E53-7B3ECB9B20A6}"/>
              </a:ext>
            </a:extLst>
          </p:cNvPr>
          <p:cNvSpPr>
            <a:spLocks noGrp="1"/>
          </p:cNvSpPr>
          <p:nvPr>
            <p:ph type="title"/>
          </p:nvPr>
        </p:nvSpPr>
        <p:spPr/>
        <p:txBody>
          <a:bodyPr/>
          <a:lstStyle/>
          <a:p>
            <a:r>
              <a:rPr lang="en-GB" dirty="0"/>
              <a:t>Process of transferring it over to unity</a:t>
            </a:r>
          </a:p>
        </p:txBody>
      </p:sp>
      <p:sp>
        <p:nvSpPr>
          <p:cNvPr id="3" name="Content Placeholder 2">
            <a:extLst>
              <a:ext uri="{FF2B5EF4-FFF2-40B4-BE49-F238E27FC236}">
                <a16:creationId xmlns:a16="http://schemas.microsoft.com/office/drawing/2014/main" id="{C5CCA792-56B7-63AF-21E1-4C284E72B478}"/>
              </a:ext>
            </a:extLst>
          </p:cNvPr>
          <p:cNvSpPr>
            <a:spLocks noGrp="1"/>
          </p:cNvSpPr>
          <p:nvPr>
            <p:ph idx="1"/>
          </p:nvPr>
        </p:nvSpPr>
        <p:spPr/>
        <p:txBody>
          <a:bodyPr vert="horz" lIns="91440" tIns="45720" rIns="91440" bIns="45720" rtlCol="0" anchor="t">
            <a:noAutofit/>
          </a:bodyPr>
          <a:lstStyle/>
          <a:p>
            <a:pPr marL="0" indent="0">
              <a:buNone/>
            </a:pPr>
            <a:r>
              <a:rPr lang="en-GB" sz="2100" dirty="0"/>
              <a:t>The Unity C# Script is designed to act as a bridge between the CFD data and the 3D model, it will read the Unity_FOWT_Data.csv file, handle the coordinate system swap and use linear interpolation to make the 10 snapshots look smooth. </a:t>
            </a:r>
          </a:p>
          <a:p>
            <a:pPr marL="0" indent="0">
              <a:buNone/>
            </a:pPr>
            <a:endParaRPr lang="en-GB" sz="2100" dirty="0"/>
          </a:p>
          <a:p>
            <a:pPr marL="0" indent="0">
              <a:buNone/>
            </a:pPr>
            <a:r>
              <a:rPr lang="en-GB" sz="2100" dirty="0"/>
              <a:t>Command to run the script is:</a:t>
            </a:r>
          </a:p>
          <a:p>
            <a:pPr marL="0" indent="0">
              <a:buNone/>
            </a:pPr>
            <a:r>
              <a:rPr lang="en-GB" sz="2100" err="1">
                <a:ea typeface="+mn-lt"/>
                <a:cs typeface="+mn-lt"/>
              </a:rPr>
              <a:t>pvpython</a:t>
            </a:r>
            <a:r>
              <a:rPr lang="en-GB" sz="2100" dirty="0">
                <a:ea typeface="+mn-lt"/>
                <a:cs typeface="+mn-lt"/>
              </a:rPr>
              <a:t> extract_fowt.py</a:t>
            </a:r>
          </a:p>
          <a:p>
            <a:pPr marL="0" indent="0">
              <a:buNone/>
            </a:pPr>
            <a:endParaRPr lang="en-GB" sz="2100" dirty="0"/>
          </a:p>
          <a:p>
            <a:pPr marL="0" indent="0">
              <a:buNone/>
            </a:pPr>
            <a:r>
              <a:rPr lang="en-GB" sz="2100" dirty="0"/>
              <a:t>Then once the file is acquired</a:t>
            </a:r>
          </a:p>
          <a:p>
            <a:pPr marL="0" indent="0">
              <a:lnSpc>
                <a:spcPct val="70000"/>
              </a:lnSpc>
              <a:buNone/>
            </a:pPr>
            <a:r>
              <a:rPr lang="en-GB" sz="2100" dirty="0">
                <a:ea typeface="+mn-lt"/>
                <a:cs typeface="+mn-lt"/>
              </a:rPr>
              <a:t>Go to Installs -&gt; Install Editor</a:t>
            </a:r>
            <a:endParaRPr lang="en-GB" sz="2100" dirty="0"/>
          </a:p>
          <a:p>
            <a:pPr marL="0" indent="0">
              <a:lnSpc>
                <a:spcPct val="70000"/>
              </a:lnSpc>
              <a:buNone/>
            </a:pPr>
            <a:r>
              <a:rPr lang="en-GB" sz="2100" dirty="0">
                <a:ea typeface="+mn-lt"/>
                <a:cs typeface="+mn-lt"/>
              </a:rPr>
              <a:t>Choose the latest LTS (Long Term Support) version</a:t>
            </a:r>
            <a:endParaRPr lang="en-GB" sz="2100" dirty="0"/>
          </a:p>
          <a:p>
            <a:pPr marL="0" indent="0">
              <a:lnSpc>
                <a:spcPct val="70000"/>
              </a:lnSpc>
              <a:buNone/>
            </a:pPr>
            <a:r>
              <a:rPr lang="en-GB" sz="2100" dirty="0">
                <a:ea typeface="+mn-lt"/>
                <a:cs typeface="+mn-lt"/>
              </a:rPr>
              <a:t>Ensure the Linux Build Support (Mono) module is selected</a:t>
            </a:r>
            <a:endParaRPr lang="en-GB" sz="2100" dirty="0"/>
          </a:p>
          <a:p>
            <a:pPr marL="0" indent="0">
              <a:buNone/>
            </a:pPr>
            <a:endParaRPr lang="en-GB" sz="2100" dirty="0"/>
          </a:p>
        </p:txBody>
      </p:sp>
    </p:spTree>
    <p:extLst>
      <p:ext uri="{BB962C8B-B14F-4D97-AF65-F5344CB8AC3E}">
        <p14:creationId xmlns:p14="http://schemas.microsoft.com/office/powerpoint/2010/main" val="2730073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FOWT Turbine Documentation</vt:lpstr>
      <vt:lpstr>Getting the turbine to spin based on the 10 snapshots</vt:lpstr>
      <vt:lpstr>Finding the Coordinate at the blade center</vt:lpstr>
      <vt:lpstr>The Probe</vt:lpstr>
      <vt:lpstr>Making the Extraction Script</vt:lpstr>
      <vt:lpstr>The FOWT_platform aka "the boat"</vt:lpstr>
      <vt:lpstr>Process of transferring it over to unity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60</cp:revision>
  <dcterms:created xsi:type="dcterms:W3CDTF">2026-01-26T18:00:05Z</dcterms:created>
  <dcterms:modified xsi:type="dcterms:W3CDTF">2026-01-27T15:04:42Z</dcterms:modified>
</cp:coreProperties>
</file>